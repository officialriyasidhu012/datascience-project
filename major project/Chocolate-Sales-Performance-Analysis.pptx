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erriweather" panose="00000500000000000000" pitchFamily="2" charset="0"/>
      <p:regular r:id="rId13"/>
    </p:embeddedFont>
    <p:embeddedFont>
      <p:font typeface="Merriweather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79744" y="2971952"/>
            <a:ext cx="9270502" cy="194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Chocolate Sales Performance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9744" y="5286670"/>
            <a:ext cx="9270502" cy="108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Using </a:t>
            </a:r>
            <a:r>
              <a:rPr lang="en-US" sz="2400" b="1">
                <a:solidFill>
                  <a:srgbClr val="609D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Power BI</a:t>
            </a: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to uncover trends, regional patterns, and revenue insights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40123" y="6732241"/>
            <a:ext cx="4331789" cy="47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PRESENTED BY: RIYA SIDHU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3810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937744" y="937612"/>
            <a:ext cx="7061006" cy="777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7744" y="1961559"/>
            <a:ext cx="9270502" cy="1107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 chocolate company seeks to </a:t>
            </a:r>
            <a:r>
              <a:rPr lang="en-US" sz="1900" b="1">
                <a:solidFill>
                  <a:srgbClr val="609D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analyze sales performance</a:t>
            </a: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across products, regions, salespersons, and time — identifying key trends and revenue patterns to drive smarter business decisions.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932982" y="3284782"/>
            <a:ext cx="9280027" cy="1375172"/>
            <a:chOff x="0" y="0"/>
            <a:chExt cx="12373369" cy="18335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73356" cy="1833626"/>
            </a:xfrm>
            <a:custGeom>
              <a:avLst/>
              <a:gdLst/>
              <a:ahLst/>
              <a:cxnLst/>
              <a:rect l="l" t="t" r="r" b="b"/>
              <a:pathLst>
                <a:path w="12373356" h="1833626">
                  <a:moveTo>
                    <a:pt x="0" y="138684"/>
                  </a:moveTo>
                  <a:cubicBezTo>
                    <a:pt x="0" y="62103"/>
                    <a:pt x="62103" y="0"/>
                    <a:pt x="138684" y="0"/>
                  </a:cubicBezTo>
                  <a:lnTo>
                    <a:pt x="12234672" y="0"/>
                  </a:lnTo>
                  <a:cubicBezTo>
                    <a:pt x="12311253" y="0"/>
                    <a:pt x="12373356" y="62103"/>
                    <a:pt x="12373356" y="138684"/>
                  </a:cubicBezTo>
                  <a:lnTo>
                    <a:pt x="12373356" y="1694942"/>
                  </a:lnTo>
                  <a:cubicBezTo>
                    <a:pt x="12373356" y="1771523"/>
                    <a:pt x="12311253" y="1833626"/>
                    <a:pt x="12234672" y="1833626"/>
                  </a:cubicBezTo>
                  <a:lnTo>
                    <a:pt x="138684" y="1833626"/>
                  </a:lnTo>
                  <a:cubicBezTo>
                    <a:pt x="62103" y="1833626"/>
                    <a:pt x="0" y="1771523"/>
                    <a:pt x="0" y="1694942"/>
                  </a:cubicBezTo>
                  <a:close/>
                </a:path>
              </a:pathLst>
            </a:custGeom>
            <a:solidFill>
              <a:srgbClr val="003180"/>
            </a:solidFill>
            <a:ln w="9526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8193138" y="3535413"/>
            <a:ext cx="3596878" cy="393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📊</a:t>
            </a: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Product Performance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17719" y="4259056"/>
            <a:ext cx="8759723" cy="400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 dirty="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Identify top-selling categories and revenue contributors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932982" y="4846291"/>
            <a:ext cx="9280027" cy="1375172"/>
            <a:chOff x="0" y="0"/>
            <a:chExt cx="12373369" cy="183356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373356" cy="1833626"/>
            </a:xfrm>
            <a:custGeom>
              <a:avLst/>
              <a:gdLst/>
              <a:ahLst/>
              <a:cxnLst/>
              <a:rect l="l" t="t" r="r" b="b"/>
              <a:pathLst>
                <a:path w="12373356" h="1833626">
                  <a:moveTo>
                    <a:pt x="0" y="138684"/>
                  </a:moveTo>
                  <a:cubicBezTo>
                    <a:pt x="0" y="62103"/>
                    <a:pt x="62103" y="0"/>
                    <a:pt x="138684" y="0"/>
                  </a:cubicBezTo>
                  <a:lnTo>
                    <a:pt x="12234672" y="0"/>
                  </a:lnTo>
                  <a:cubicBezTo>
                    <a:pt x="12311253" y="0"/>
                    <a:pt x="12373356" y="62103"/>
                    <a:pt x="12373356" y="138684"/>
                  </a:cubicBezTo>
                  <a:lnTo>
                    <a:pt x="12373356" y="1694942"/>
                  </a:lnTo>
                  <a:cubicBezTo>
                    <a:pt x="12373356" y="1771523"/>
                    <a:pt x="12311253" y="1833626"/>
                    <a:pt x="12234672" y="1833626"/>
                  </a:cubicBezTo>
                  <a:lnTo>
                    <a:pt x="138684" y="1833626"/>
                  </a:lnTo>
                  <a:cubicBezTo>
                    <a:pt x="62103" y="1833626"/>
                    <a:pt x="0" y="1771523"/>
                    <a:pt x="0" y="1694942"/>
                  </a:cubicBezTo>
                  <a:close/>
                </a:path>
              </a:pathLst>
            </a:custGeom>
            <a:solidFill>
              <a:srgbClr val="003180"/>
            </a:solidFill>
            <a:ln w="9526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7948731" y="5090026"/>
            <a:ext cx="3084757" cy="753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🌍</a:t>
            </a:r>
            <a:r>
              <a:rPr lang="en-US" sz="2400" dirty="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Regional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1109" y="5730365"/>
            <a:ext cx="8759723" cy="400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 dirty="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Compare sales across regions and countries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932982" y="6407791"/>
            <a:ext cx="9280027" cy="1375172"/>
            <a:chOff x="0" y="0"/>
            <a:chExt cx="12373369" cy="183356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73356" cy="1833626"/>
            </a:xfrm>
            <a:custGeom>
              <a:avLst/>
              <a:gdLst/>
              <a:ahLst/>
              <a:cxnLst/>
              <a:rect l="l" t="t" r="r" b="b"/>
              <a:pathLst>
                <a:path w="12373356" h="1833626">
                  <a:moveTo>
                    <a:pt x="0" y="138684"/>
                  </a:moveTo>
                  <a:cubicBezTo>
                    <a:pt x="0" y="62103"/>
                    <a:pt x="62103" y="0"/>
                    <a:pt x="138684" y="0"/>
                  </a:cubicBezTo>
                  <a:lnTo>
                    <a:pt x="12234672" y="0"/>
                  </a:lnTo>
                  <a:cubicBezTo>
                    <a:pt x="12311253" y="0"/>
                    <a:pt x="12373356" y="62103"/>
                    <a:pt x="12373356" y="138684"/>
                  </a:cubicBezTo>
                  <a:lnTo>
                    <a:pt x="12373356" y="1694942"/>
                  </a:lnTo>
                  <a:cubicBezTo>
                    <a:pt x="12373356" y="1771523"/>
                    <a:pt x="12311253" y="1833626"/>
                    <a:pt x="12234672" y="1833626"/>
                  </a:cubicBezTo>
                  <a:lnTo>
                    <a:pt x="138684" y="1833626"/>
                  </a:lnTo>
                  <a:cubicBezTo>
                    <a:pt x="62103" y="1833626"/>
                    <a:pt x="0" y="1771523"/>
                    <a:pt x="0" y="1694942"/>
                  </a:cubicBezTo>
                  <a:close/>
                </a:path>
              </a:pathLst>
            </a:custGeom>
            <a:solidFill>
              <a:srgbClr val="003180"/>
            </a:solidFill>
            <a:ln w="9526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8193138" y="6658423"/>
            <a:ext cx="3523955" cy="393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👤</a:t>
            </a: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Salesperson Insights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29787" y="7327516"/>
            <a:ext cx="8759723" cy="400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 dirty="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Evaluate individual contribution to overall revenue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932982" y="7969301"/>
            <a:ext cx="9280027" cy="1375172"/>
            <a:chOff x="0" y="0"/>
            <a:chExt cx="12373369" cy="183356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373356" cy="1833626"/>
            </a:xfrm>
            <a:custGeom>
              <a:avLst/>
              <a:gdLst/>
              <a:ahLst/>
              <a:cxnLst/>
              <a:rect l="l" t="t" r="r" b="b"/>
              <a:pathLst>
                <a:path w="12373356" h="1833626">
                  <a:moveTo>
                    <a:pt x="0" y="138684"/>
                  </a:moveTo>
                  <a:cubicBezTo>
                    <a:pt x="0" y="62103"/>
                    <a:pt x="62103" y="0"/>
                    <a:pt x="138684" y="0"/>
                  </a:cubicBezTo>
                  <a:lnTo>
                    <a:pt x="12234672" y="0"/>
                  </a:lnTo>
                  <a:cubicBezTo>
                    <a:pt x="12311253" y="0"/>
                    <a:pt x="12373356" y="62103"/>
                    <a:pt x="12373356" y="138684"/>
                  </a:cubicBezTo>
                  <a:lnTo>
                    <a:pt x="12373356" y="1694942"/>
                  </a:lnTo>
                  <a:cubicBezTo>
                    <a:pt x="12373356" y="1771523"/>
                    <a:pt x="12311253" y="1833626"/>
                    <a:pt x="12234672" y="1833626"/>
                  </a:cubicBezTo>
                  <a:lnTo>
                    <a:pt x="138684" y="1833626"/>
                  </a:lnTo>
                  <a:cubicBezTo>
                    <a:pt x="62103" y="1833626"/>
                    <a:pt x="0" y="1771523"/>
                    <a:pt x="0" y="1694942"/>
                  </a:cubicBezTo>
                  <a:close/>
                </a:path>
              </a:pathLst>
            </a:custGeom>
            <a:solidFill>
              <a:srgbClr val="003180"/>
            </a:solidFill>
            <a:ln w="9526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8193138" y="8219923"/>
            <a:ext cx="3073298" cy="393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📅</a:t>
            </a: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Time Trends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93138" y="8683381"/>
            <a:ext cx="8759723" cy="400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 dirty="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Uncover monthly and seasonal demand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381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929135"/>
            <a:ext cx="5976337" cy="6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Overview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81000" y="1714499"/>
            <a:ext cx="11009404" cy="7643365"/>
            <a:chOff x="0" y="0"/>
            <a:chExt cx="13747547" cy="779025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747496" cy="7790307"/>
            </a:xfrm>
            <a:custGeom>
              <a:avLst/>
              <a:gdLst/>
              <a:ahLst/>
              <a:cxnLst/>
              <a:rect l="l" t="t" r="r" b="b"/>
              <a:pathLst>
                <a:path w="13747496" h="7790307">
                  <a:moveTo>
                    <a:pt x="0" y="0"/>
                  </a:moveTo>
                  <a:lnTo>
                    <a:pt x="13747496" y="0"/>
                  </a:lnTo>
                  <a:lnTo>
                    <a:pt x="13747496" y="7790307"/>
                  </a:lnTo>
                  <a:lnTo>
                    <a:pt x="0" y="7790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4" b="-2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1893744" y="1903362"/>
            <a:ext cx="3776215" cy="3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Chocolate Sales Dataset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93744" y="2352523"/>
            <a:ext cx="5323884" cy="545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Four interconnected tables form the foundation of this analysis: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1893744" y="3047848"/>
            <a:ext cx="5323884" cy="1179309"/>
          </a:xfrm>
          <a:custGeom>
            <a:avLst/>
            <a:gdLst/>
            <a:ahLst/>
            <a:cxnLst/>
            <a:rect l="l" t="t" r="r" b="b"/>
            <a:pathLst>
              <a:path w="5323884" h="1179309">
                <a:moveTo>
                  <a:pt x="0" y="0"/>
                </a:moveTo>
                <a:lnTo>
                  <a:pt x="5323884" y="0"/>
                </a:lnTo>
                <a:lnTo>
                  <a:pt x="5323884" y="1179309"/>
                </a:lnTo>
                <a:lnTo>
                  <a:pt x="0" y="11793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70" b="-70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239034" y="3269304"/>
            <a:ext cx="2530973" cy="3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Products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39034" y="3718474"/>
            <a:ext cx="4747622" cy="27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Category, pricing, and product details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1893744" y="4359916"/>
            <a:ext cx="5323884" cy="1179309"/>
          </a:xfrm>
          <a:custGeom>
            <a:avLst/>
            <a:gdLst/>
            <a:ahLst/>
            <a:cxnLst/>
            <a:rect l="l" t="t" r="r" b="b"/>
            <a:pathLst>
              <a:path w="5323884" h="1179309">
                <a:moveTo>
                  <a:pt x="0" y="0"/>
                </a:moveTo>
                <a:lnTo>
                  <a:pt x="5323884" y="0"/>
                </a:lnTo>
                <a:lnTo>
                  <a:pt x="5323884" y="1179310"/>
                </a:lnTo>
                <a:lnTo>
                  <a:pt x="0" y="1179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70" b="-70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239034" y="4581373"/>
            <a:ext cx="2530973" cy="3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Shipments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39034" y="5030543"/>
            <a:ext cx="4747622" cy="27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Boxes shipped, ship dates, and volumes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11893744" y="5671985"/>
            <a:ext cx="5323884" cy="1179309"/>
          </a:xfrm>
          <a:custGeom>
            <a:avLst/>
            <a:gdLst/>
            <a:ahLst/>
            <a:cxnLst/>
            <a:rect l="l" t="t" r="r" b="b"/>
            <a:pathLst>
              <a:path w="5323884" h="1179309">
                <a:moveTo>
                  <a:pt x="0" y="0"/>
                </a:moveTo>
                <a:lnTo>
                  <a:pt x="5323884" y="0"/>
                </a:lnTo>
                <a:lnTo>
                  <a:pt x="5323884" y="1179309"/>
                </a:lnTo>
                <a:lnTo>
                  <a:pt x="0" y="11793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70" b="-70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239034" y="5893441"/>
            <a:ext cx="2530973" cy="3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Geography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39034" y="6342612"/>
            <a:ext cx="4747622" cy="27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Region and country-level data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11893744" y="6984054"/>
            <a:ext cx="5323884" cy="1179309"/>
          </a:xfrm>
          <a:custGeom>
            <a:avLst/>
            <a:gdLst/>
            <a:ahLst/>
            <a:cxnLst/>
            <a:rect l="l" t="t" r="r" b="b"/>
            <a:pathLst>
              <a:path w="5323884" h="1179309">
                <a:moveTo>
                  <a:pt x="0" y="0"/>
                </a:moveTo>
                <a:lnTo>
                  <a:pt x="5323884" y="0"/>
                </a:lnTo>
                <a:lnTo>
                  <a:pt x="5323884" y="1179309"/>
                </a:lnTo>
                <a:lnTo>
                  <a:pt x="0" y="11793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70" b="-70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239034" y="7205510"/>
            <a:ext cx="2530973" cy="3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Sales Person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39034" y="7654681"/>
            <a:ext cx="4747622" cy="27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Salesperson names and assignments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1893744" y="8312791"/>
            <a:ext cx="5323884" cy="876595"/>
            <a:chOff x="0" y="0"/>
            <a:chExt cx="7098513" cy="116879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098538" cy="1168781"/>
            </a:xfrm>
            <a:custGeom>
              <a:avLst/>
              <a:gdLst/>
              <a:ahLst/>
              <a:cxnLst/>
              <a:rect l="l" t="t" r="r" b="b"/>
              <a:pathLst>
                <a:path w="7098538" h="1168781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985127" y="0"/>
                  </a:lnTo>
                  <a:cubicBezTo>
                    <a:pt x="7047738" y="0"/>
                    <a:pt x="7098538" y="50800"/>
                    <a:pt x="7098538" y="113411"/>
                  </a:cubicBezTo>
                  <a:lnTo>
                    <a:pt x="7098538" y="1055370"/>
                  </a:lnTo>
                  <a:cubicBezTo>
                    <a:pt x="7098538" y="1117981"/>
                    <a:pt x="7047738" y="1168781"/>
                    <a:pt x="6985127" y="1168781"/>
                  </a:cubicBezTo>
                  <a:lnTo>
                    <a:pt x="113411" y="1168781"/>
                  </a:lnTo>
                  <a:cubicBezTo>
                    <a:pt x="50800" y="1168781"/>
                    <a:pt x="0" y="1117981"/>
                    <a:pt x="0" y="1055370"/>
                  </a:cubicBezTo>
                  <a:close/>
                </a:path>
              </a:pathLst>
            </a:custGeom>
            <a:solidFill>
              <a:srgbClr val="00318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2096150" y="8588721"/>
            <a:ext cx="253013" cy="202406"/>
            <a:chOff x="0" y="0"/>
            <a:chExt cx="337350" cy="269875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337312" cy="269875"/>
            </a:xfrm>
            <a:custGeom>
              <a:avLst/>
              <a:gdLst/>
              <a:ahLst/>
              <a:cxnLst/>
              <a:rect l="l" t="t" r="r" b="b"/>
              <a:pathLst>
                <a:path w="337312" h="269875">
                  <a:moveTo>
                    <a:pt x="0" y="0"/>
                  </a:moveTo>
                  <a:lnTo>
                    <a:pt x="337312" y="0"/>
                  </a:lnTo>
                  <a:lnTo>
                    <a:pt x="337312" y="269875"/>
                  </a:lnTo>
                  <a:lnTo>
                    <a:pt x="0" y="269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927" r="-11" b="-927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2551569" y="8473383"/>
            <a:ext cx="4463653" cy="545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Key Columns:</a:t>
            </a:r>
            <a:r>
              <a:rPr lang="en-US" sz="15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Product Category · Amount · Boxes · Ship Date · Region · Salesperson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864241"/>
            <a:ext cx="9779051" cy="83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Data Cleaning &amp; Preparation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9744" y="2078831"/>
            <a:ext cx="17042902" cy="440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Data was cleaned using </a:t>
            </a:r>
            <a:r>
              <a:rPr lang="en-US" sz="2000" b="1">
                <a:solidFill>
                  <a:srgbClr val="609D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Google Colab</a:t>
            </a: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and </a:t>
            </a:r>
            <a:r>
              <a:rPr lang="en-US" sz="2000" b="1">
                <a:solidFill>
                  <a:srgbClr val="609D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Power BI</a:t>
            </a: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to ensure accuracy and reliability before analysis.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407541" y="2766860"/>
            <a:ext cx="9472765" cy="5622131"/>
            <a:chOff x="0" y="0"/>
            <a:chExt cx="12630353" cy="7496175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2630404" cy="7496175"/>
            </a:xfrm>
            <a:custGeom>
              <a:avLst/>
              <a:gdLst/>
              <a:ahLst/>
              <a:cxnLst/>
              <a:rect l="l" t="t" r="r" b="b"/>
              <a:pathLst>
                <a:path w="12630404" h="7496175">
                  <a:moveTo>
                    <a:pt x="0" y="0"/>
                  </a:moveTo>
                  <a:lnTo>
                    <a:pt x="12630404" y="0"/>
                  </a:lnTo>
                  <a:lnTo>
                    <a:pt x="12630404" y="7496175"/>
                  </a:lnTo>
                  <a:lnTo>
                    <a:pt x="0" y="7496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9" b="-39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000737" y="7075389"/>
            <a:ext cx="2354723" cy="463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Verify Types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33147" y="6848580"/>
            <a:ext cx="2354723" cy="91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Remove Duplicates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17170" y="6848580"/>
            <a:ext cx="2354723" cy="91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Check Missing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9744" y="8578901"/>
            <a:ext cx="16128502" cy="824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The dataset passed all quality checks — no missing values, no duplicate records, and all data types verified. The clean dataset was ready for Power BI modelling and visualisation.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290" y="1143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79744" y="851297"/>
            <a:ext cx="1769564" cy="555869"/>
            <a:chOff x="0" y="0"/>
            <a:chExt cx="2359419" cy="741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9406" cy="741172"/>
            </a:xfrm>
            <a:custGeom>
              <a:avLst/>
              <a:gdLst/>
              <a:ahLst/>
              <a:cxnLst/>
              <a:rect l="l" t="t" r="r" b="b"/>
              <a:pathLst>
                <a:path w="2359406" h="741172">
                  <a:moveTo>
                    <a:pt x="0" y="133858"/>
                  </a:moveTo>
                  <a:cubicBezTo>
                    <a:pt x="0" y="59944"/>
                    <a:pt x="59944" y="0"/>
                    <a:pt x="133858" y="0"/>
                  </a:cubicBezTo>
                  <a:lnTo>
                    <a:pt x="2225548" y="0"/>
                  </a:lnTo>
                  <a:cubicBezTo>
                    <a:pt x="2299462" y="0"/>
                    <a:pt x="2359406" y="59944"/>
                    <a:pt x="2359406" y="133858"/>
                  </a:cubicBezTo>
                  <a:lnTo>
                    <a:pt x="2359406" y="607314"/>
                  </a:lnTo>
                  <a:cubicBezTo>
                    <a:pt x="2359406" y="681228"/>
                    <a:pt x="2299462" y="741172"/>
                    <a:pt x="2225548" y="741172"/>
                  </a:cubicBezTo>
                  <a:lnTo>
                    <a:pt x="133858" y="741172"/>
                  </a:lnTo>
                  <a:cubicBezTo>
                    <a:pt x="59944" y="741172"/>
                    <a:pt x="0" y="681228"/>
                    <a:pt x="0" y="607314"/>
                  </a:cubicBezTo>
                  <a:close/>
                </a:path>
              </a:pathLst>
            </a:custGeom>
            <a:solidFill>
              <a:srgbClr val="001D4D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59091" y="864689"/>
            <a:ext cx="2325291" cy="45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1494387"/>
            <a:ext cx="16128502" cy="1809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38"/>
              </a:lnSpc>
            </a:pPr>
            <a:r>
              <a:rPr lang="en-US" sz="480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Which product category contributes the most to overall sales revenue?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28600" y="3391053"/>
            <a:ext cx="9067800" cy="6705447"/>
            <a:chOff x="0" y="0"/>
            <a:chExt cx="9922866" cy="563721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9922891" cy="5637276"/>
            </a:xfrm>
            <a:custGeom>
              <a:avLst/>
              <a:gdLst/>
              <a:ahLst/>
              <a:cxnLst/>
              <a:rect l="l" t="t" r="r" b="b"/>
              <a:pathLst>
                <a:path w="9922891" h="5637276">
                  <a:moveTo>
                    <a:pt x="0" y="0"/>
                  </a:moveTo>
                  <a:lnTo>
                    <a:pt x="9922891" y="0"/>
                  </a:lnTo>
                  <a:lnTo>
                    <a:pt x="9922891" y="5637276"/>
                  </a:lnTo>
                  <a:lnTo>
                    <a:pt x="0" y="5637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8" r="-28" b="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518152" y="4095750"/>
            <a:ext cx="4650581" cy="485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Key Insight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18152" y="4785417"/>
            <a:ext cx="7699619" cy="1497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300" b="1">
                <a:solidFill>
                  <a:srgbClr val="609D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Bars</a:t>
            </a:r>
            <a:r>
              <a:rPr lang="en-US" sz="23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emerged as the highest revenue-generating product category, significantly outpacing Truffles, Pralines, and Gift Boxes.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18152" y="6457798"/>
            <a:ext cx="7699619" cy="264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Bars dominate overall sales contribution</a:t>
            </a:r>
          </a:p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Gift Boxes and Spreads show lower but steady revenue</a:t>
            </a:r>
          </a:p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Category-level focus can guide inventory and marketing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79744" y="856059"/>
            <a:ext cx="1803349" cy="555869"/>
            <a:chOff x="0" y="0"/>
            <a:chExt cx="2404466" cy="7411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04364" cy="741172"/>
            </a:xfrm>
            <a:custGeom>
              <a:avLst/>
              <a:gdLst/>
              <a:ahLst/>
              <a:cxnLst/>
              <a:rect l="l" t="t" r="r" b="b"/>
              <a:pathLst>
                <a:path w="2404364" h="741172">
                  <a:moveTo>
                    <a:pt x="0" y="133858"/>
                  </a:moveTo>
                  <a:cubicBezTo>
                    <a:pt x="0" y="59944"/>
                    <a:pt x="59944" y="0"/>
                    <a:pt x="133858" y="0"/>
                  </a:cubicBezTo>
                  <a:lnTo>
                    <a:pt x="2270506" y="0"/>
                  </a:lnTo>
                  <a:cubicBezTo>
                    <a:pt x="2344420" y="0"/>
                    <a:pt x="2404364" y="59944"/>
                    <a:pt x="2404364" y="133858"/>
                  </a:cubicBezTo>
                  <a:lnTo>
                    <a:pt x="2404364" y="607314"/>
                  </a:lnTo>
                  <a:cubicBezTo>
                    <a:pt x="2404364" y="681228"/>
                    <a:pt x="2344420" y="741172"/>
                    <a:pt x="2270506" y="741172"/>
                  </a:cubicBezTo>
                  <a:lnTo>
                    <a:pt x="133858" y="741172"/>
                  </a:lnTo>
                  <a:cubicBezTo>
                    <a:pt x="59944" y="741172"/>
                    <a:pt x="0" y="681228"/>
                    <a:pt x="0" y="607314"/>
                  </a:cubicBezTo>
                  <a:close/>
                </a:path>
              </a:pathLst>
            </a:custGeom>
            <a:solidFill>
              <a:srgbClr val="001D4D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259091" y="869452"/>
            <a:ext cx="2359076" cy="45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9744" y="1499149"/>
            <a:ext cx="16128502" cy="1809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540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Which Salespersons and teams are driving the Highest sales?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9744" y="4100512"/>
            <a:ext cx="5492506" cy="485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Salesperson Performance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9744" y="4790180"/>
            <a:ext cx="7699619" cy="1497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3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Revenue contribution varies significantly across the sales team. Identifying top performers helps recognise excellence and set benchmarks.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9744" y="6462560"/>
            <a:ext cx="7699619" cy="217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Top salespersons drive a large share of total revenue</a:t>
            </a:r>
          </a:p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 gaps reveal coaching opportunities</a:t>
            </a:r>
          </a:p>
          <a:p>
            <a:pPr marL="554990" lvl="1" indent="-277495" algn="l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Individual targets can be calibrated based on data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144000" y="2781300"/>
            <a:ext cx="8915400" cy="6907682"/>
            <a:chOff x="0" y="0"/>
            <a:chExt cx="9922866" cy="5624309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9922891" cy="5624322"/>
            </a:xfrm>
            <a:custGeom>
              <a:avLst/>
              <a:gdLst/>
              <a:ahLst/>
              <a:cxnLst/>
              <a:rect l="l" t="t" r="r" b="b"/>
              <a:pathLst>
                <a:path w="9922891" h="5624322">
                  <a:moveTo>
                    <a:pt x="0" y="0"/>
                  </a:moveTo>
                  <a:lnTo>
                    <a:pt x="9922891" y="0"/>
                  </a:lnTo>
                  <a:lnTo>
                    <a:pt x="9922891" y="5624322"/>
                  </a:lnTo>
                  <a:lnTo>
                    <a:pt x="0" y="5624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" r="-26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381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79744" y="992238"/>
            <a:ext cx="1710633" cy="520303"/>
            <a:chOff x="0" y="0"/>
            <a:chExt cx="2280844" cy="6937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0793" cy="693674"/>
            </a:xfrm>
            <a:custGeom>
              <a:avLst/>
              <a:gdLst/>
              <a:ahLst/>
              <a:cxnLst/>
              <a:rect l="l" t="t" r="r" b="b"/>
              <a:pathLst>
                <a:path w="2280793" h="693674">
                  <a:moveTo>
                    <a:pt x="0" y="127381"/>
                  </a:moveTo>
                  <a:cubicBezTo>
                    <a:pt x="0" y="57023"/>
                    <a:pt x="57023" y="0"/>
                    <a:pt x="127381" y="0"/>
                  </a:cubicBezTo>
                  <a:lnTo>
                    <a:pt x="2153412" y="0"/>
                  </a:lnTo>
                  <a:cubicBezTo>
                    <a:pt x="2223770" y="0"/>
                    <a:pt x="2280793" y="57023"/>
                    <a:pt x="2280793" y="127381"/>
                  </a:cubicBezTo>
                  <a:lnTo>
                    <a:pt x="2280793" y="566293"/>
                  </a:lnTo>
                  <a:cubicBezTo>
                    <a:pt x="2280793" y="636651"/>
                    <a:pt x="2223770" y="693674"/>
                    <a:pt x="2153412" y="693674"/>
                  </a:cubicBezTo>
                  <a:lnTo>
                    <a:pt x="127381" y="693674"/>
                  </a:lnTo>
                  <a:cubicBezTo>
                    <a:pt x="57023" y="693801"/>
                    <a:pt x="0" y="636651"/>
                    <a:pt x="0" y="566293"/>
                  </a:cubicBezTo>
                  <a:close/>
                </a:path>
              </a:pathLst>
            </a:custGeom>
            <a:solidFill>
              <a:srgbClr val="001D4D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50309" y="1020366"/>
            <a:ext cx="2283914" cy="406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1598266"/>
            <a:ext cx="16128502" cy="1796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40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How Does Sales Performance Vary Across Regions and countries?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81000" y="3480692"/>
            <a:ext cx="8416080" cy="6387207"/>
            <a:chOff x="0" y="0"/>
            <a:chExt cx="10289781" cy="585212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0289794" cy="5852160"/>
            </a:xfrm>
            <a:custGeom>
              <a:avLst/>
              <a:gdLst/>
              <a:ahLst/>
              <a:cxnLst/>
              <a:rect l="l" t="t" r="r" b="b"/>
              <a:pathLst>
                <a:path w="10289794" h="5852160">
                  <a:moveTo>
                    <a:pt x="0" y="0"/>
                  </a:moveTo>
                  <a:lnTo>
                    <a:pt x="10289794" y="0"/>
                  </a:lnTo>
                  <a:lnTo>
                    <a:pt x="10289794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" r="-2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500445" y="4040686"/>
            <a:ext cx="4469759" cy="453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Regional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0445" y="4690024"/>
            <a:ext cx="7717336" cy="1378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Sales differ markedly across regions, with certain countries generating </a:t>
            </a:r>
            <a:r>
              <a:rPr lang="en-US" sz="2200" b="1">
                <a:solidFill>
                  <a:srgbClr val="609D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significantly higher revenue</a:t>
            </a: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than others.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00445" y="6237684"/>
            <a:ext cx="7717336" cy="2965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379"/>
              </a:lnSpc>
              <a:buFont typeface="Arial"/>
              <a:buChar char="•"/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North region leads in total revenue contribution</a:t>
            </a:r>
          </a:p>
          <a:p>
            <a:pPr marL="530860" lvl="1" indent="-265430" algn="l">
              <a:lnSpc>
                <a:spcPts val="3379"/>
              </a:lnSpc>
              <a:buFont typeface="Arial"/>
              <a:buChar char="•"/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Specific countries within regions show standout performance</a:t>
            </a:r>
          </a:p>
          <a:p>
            <a:pPr marL="530860" lvl="1" indent="-265430" algn="l">
              <a:lnSpc>
                <a:spcPts val="3379"/>
              </a:lnSpc>
              <a:buFont typeface="Arial"/>
              <a:buChar char="•"/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Underperforming regions represent growth opportunities</a:t>
            </a:r>
          </a:p>
          <a:p>
            <a:pPr marL="530860" lvl="1" indent="-265430" algn="l">
              <a:lnSpc>
                <a:spcPts val="3379"/>
              </a:lnSpc>
              <a:buFont typeface="Arial"/>
              <a:buChar char="•"/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Regional strategy should be tailored to local demand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79744" y="1019023"/>
            <a:ext cx="1866748" cy="579834"/>
            <a:chOff x="0" y="0"/>
            <a:chExt cx="2488997" cy="7731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88946" cy="773049"/>
            </a:xfrm>
            <a:custGeom>
              <a:avLst/>
              <a:gdLst/>
              <a:ahLst/>
              <a:cxnLst/>
              <a:rect l="l" t="t" r="r" b="b"/>
              <a:pathLst>
                <a:path w="2488946" h="773049">
                  <a:moveTo>
                    <a:pt x="0" y="138176"/>
                  </a:moveTo>
                  <a:cubicBezTo>
                    <a:pt x="0" y="61849"/>
                    <a:pt x="61849" y="0"/>
                    <a:pt x="138176" y="0"/>
                  </a:cubicBezTo>
                  <a:lnTo>
                    <a:pt x="2350770" y="0"/>
                  </a:lnTo>
                  <a:cubicBezTo>
                    <a:pt x="2427097" y="0"/>
                    <a:pt x="2488946" y="61849"/>
                    <a:pt x="2488946" y="138176"/>
                  </a:cubicBezTo>
                  <a:lnTo>
                    <a:pt x="2488946" y="634873"/>
                  </a:lnTo>
                  <a:cubicBezTo>
                    <a:pt x="2488946" y="711200"/>
                    <a:pt x="2427097" y="773049"/>
                    <a:pt x="2350770" y="773049"/>
                  </a:cubicBezTo>
                  <a:lnTo>
                    <a:pt x="138176" y="773049"/>
                  </a:lnTo>
                  <a:cubicBezTo>
                    <a:pt x="61849" y="773049"/>
                    <a:pt x="0" y="711200"/>
                    <a:pt x="0" y="634873"/>
                  </a:cubicBezTo>
                  <a:close/>
                </a:path>
              </a:pathLst>
            </a:custGeom>
            <a:solidFill>
              <a:srgbClr val="001D4D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64739" y="1035244"/>
            <a:ext cx="2411168" cy="47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1703194"/>
            <a:ext cx="16128502" cy="194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Do Higher Shipments Always Mean Higher Revenue?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81000" y="3754850"/>
            <a:ext cx="8386610" cy="6341650"/>
            <a:chOff x="0" y="0"/>
            <a:chExt cx="10250488" cy="577373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0250551" cy="5773801"/>
            </a:xfrm>
            <a:custGeom>
              <a:avLst/>
              <a:gdLst/>
              <a:ahLst/>
              <a:cxnLst/>
              <a:rect l="l" t="t" r="r" b="b"/>
              <a:pathLst>
                <a:path w="10250551" h="5773801">
                  <a:moveTo>
                    <a:pt x="0" y="0"/>
                  </a:moveTo>
                  <a:lnTo>
                    <a:pt x="10250551" y="0"/>
                  </a:lnTo>
                  <a:lnTo>
                    <a:pt x="10250551" y="5773801"/>
                  </a:lnTo>
                  <a:lnTo>
                    <a:pt x="0" y="5773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r="-12" b="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529915" y="4412161"/>
            <a:ext cx="4771130" cy="49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Key Finding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9915" y="5116859"/>
            <a:ext cx="7687866" cy="157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1">
                <a:solidFill>
                  <a:srgbClr val="609D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Higher shipment volumes do not always translate to higher revenue.</a:t>
            </a: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Product value and pricing play an equally critical role.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9915" y="6874964"/>
            <a:ext cx="7687866" cy="2285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Truffles: fewer boxes, but high per-unit value</a:t>
            </a:r>
          </a:p>
          <a:p>
            <a:pPr marL="579120" lvl="1" indent="-289560" algn="l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Spreads: high volume, but lower revenue per box</a:t>
            </a:r>
          </a:p>
          <a:p>
            <a:pPr marL="579120" lvl="1" indent="-289560" algn="l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Revenue optimisation requires balancing volume and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3687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79744" y="1219648"/>
            <a:ext cx="11596840" cy="114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480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What Are the Monthly and Seasonal Sales Trends</a:t>
            </a:r>
            <a:r>
              <a:rPr lang="en-US" sz="350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?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001000" y="2095500"/>
            <a:ext cx="10134600" cy="7239000"/>
            <a:chOff x="8873455" y="-446326"/>
            <a:chExt cx="16455010" cy="917143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8873455" y="-446326"/>
              <a:ext cx="16455010" cy="9171432"/>
            </a:xfrm>
            <a:custGeom>
              <a:avLst/>
              <a:gdLst/>
              <a:ahLst/>
              <a:cxnLst/>
              <a:rect l="l" t="t" r="r" b="b"/>
              <a:pathLst>
                <a:path w="16455010" h="9171432">
                  <a:moveTo>
                    <a:pt x="0" y="0"/>
                  </a:moveTo>
                  <a:lnTo>
                    <a:pt x="16455010" y="0"/>
                  </a:lnTo>
                  <a:lnTo>
                    <a:pt x="16455010" y="9171432"/>
                  </a:lnTo>
                  <a:lnTo>
                    <a:pt x="0" y="9171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5" b="-4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79744" y="8926116"/>
            <a:ext cx="6921256" cy="233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63"/>
              </a:lnSpc>
            </a:pPr>
            <a:r>
              <a:rPr lang="en-US" dirty="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CEB4AF-B002-FBDA-7F81-6634B91851FB}"/>
              </a:ext>
            </a:extLst>
          </p:cNvPr>
          <p:cNvSpPr txBox="1"/>
          <p:nvPr/>
        </p:nvSpPr>
        <p:spPr>
          <a:xfrm>
            <a:off x="609600" y="4229100"/>
            <a:ext cx="6324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Sales </a:t>
            </a:r>
            <a:r>
              <a:rPr lang="en-US" sz="2400" b="1" dirty="0">
                <a:solidFill>
                  <a:srgbClr val="609D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fluctuate throughout the year</a:t>
            </a:r>
            <a:r>
              <a:rPr lang="en-US" sz="2400" dirty="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, with a clear upward trend towards Q4 — indicating strong </a:t>
            </a:r>
            <a:r>
              <a:rPr lang="en-US" sz="2400" b="1" dirty="0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seasonal demand</a:t>
            </a:r>
            <a:r>
              <a:rPr lang="en-US" sz="2400" dirty="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during festive periods. Peak revenue occurs in November and December, likely driven by holiday gifting. This pattern can inform inventory planning and promotional campaigns</a:t>
            </a:r>
            <a:endParaRPr lang="en-I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840134"/>
            <a:ext cx="10230450" cy="922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8"/>
              </a:lnSpc>
            </a:pPr>
            <a:r>
              <a:rPr lang="en-US" sz="5599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Key Findings &amp; Conclusion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74982" y="2300583"/>
            <a:ext cx="5204822" cy="2127799"/>
            <a:chOff x="0" y="0"/>
            <a:chExt cx="6939763" cy="28370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39788" cy="2837053"/>
            </a:xfrm>
            <a:custGeom>
              <a:avLst/>
              <a:gdLst/>
              <a:ahLst/>
              <a:cxnLst/>
              <a:rect l="l" t="t" r="r" b="b"/>
              <a:pathLst>
                <a:path w="6939788" h="2837053">
                  <a:moveTo>
                    <a:pt x="0" y="162687"/>
                  </a:moveTo>
                  <a:cubicBezTo>
                    <a:pt x="0" y="72898"/>
                    <a:pt x="72898" y="0"/>
                    <a:pt x="162687" y="0"/>
                  </a:cubicBezTo>
                  <a:lnTo>
                    <a:pt x="6777101" y="0"/>
                  </a:lnTo>
                  <a:cubicBezTo>
                    <a:pt x="6867017" y="0"/>
                    <a:pt x="6939788" y="72898"/>
                    <a:pt x="6939788" y="162687"/>
                  </a:cubicBezTo>
                  <a:lnTo>
                    <a:pt x="6939788" y="2674366"/>
                  </a:lnTo>
                  <a:cubicBezTo>
                    <a:pt x="6939788" y="2764282"/>
                    <a:pt x="6866890" y="2837053"/>
                    <a:pt x="6777101" y="2837053"/>
                  </a:cubicBezTo>
                  <a:lnTo>
                    <a:pt x="162687" y="2837053"/>
                  </a:lnTo>
                  <a:cubicBezTo>
                    <a:pt x="72898" y="2837053"/>
                    <a:pt x="0" y="2764155"/>
                    <a:pt x="0" y="2674366"/>
                  </a:cubicBezTo>
                  <a:close/>
                </a:path>
              </a:pathLst>
            </a:custGeom>
            <a:solidFill>
              <a:srgbClr val="003180"/>
            </a:solidFill>
            <a:ln w="9526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378448" y="2594524"/>
            <a:ext cx="3615633" cy="47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🍫</a:t>
            </a:r>
            <a:r>
              <a:rPr lang="en-US" sz="27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Top Category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8448" y="3151880"/>
            <a:ext cx="4597898" cy="973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Bars lead revenue across all product categories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41446" y="2300583"/>
            <a:ext cx="5204965" cy="2127799"/>
            <a:chOff x="0" y="0"/>
            <a:chExt cx="6939953" cy="28370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39915" cy="2837053"/>
            </a:xfrm>
            <a:custGeom>
              <a:avLst/>
              <a:gdLst/>
              <a:ahLst/>
              <a:cxnLst/>
              <a:rect l="l" t="t" r="r" b="b"/>
              <a:pathLst>
                <a:path w="6939915" h="2837053">
                  <a:moveTo>
                    <a:pt x="0" y="162687"/>
                  </a:moveTo>
                  <a:cubicBezTo>
                    <a:pt x="0" y="72898"/>
                    <a:pt x="72898" y="0"/>
                    <a:pt x="162687" y="0"/>
                  </a:cubicBezTo>
                  <a:lnTo>
                    <a:pt x="6777228" y="0"/>
                  </a:lnTo>
                  <a:cubicBezTo>
                    <a:pt x="6867144" y="0"/>
                    <a:pt x="6939915" y="72898"/>
                    <a:pt x="6939915" y="162687"/>
                  </a:cubicBezTo>
                  <a:lnTo>
                    <a:pt x="6939915" y="2674366"/>
                  </a:lnTo>
                  <a:cubicBezTo>
                    <a:pt x="6939915" y="2764282"/>
                    <a:pt x="6867017" y="2837053"/>
                    <a:pt x="6777228" y="2837053"/>
                  </a:cubicBezTo>
                  <a:lnTo>
                    <a:pt x="162687" y="2837053"/>
                  </a:lnTo>
                  <a:cubicBezTo>
                    <a:pt x="72898" y="2837053"/>
                    <a:pt x="0" y="2764155"/>
                    <a:pt x="0" y="2674366"/>
                  </a:cubicBezTo>
                  <a:close/>
                </a:path>
              </a:pathLst>
            </a:custGeom>
            <a:solidFill>
              <a:srgbClr val="003180"/>
            </a:solidFill>
            <a:ln w="9526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844903" y="2594524"/>
            <a:ext cx="3615633" cy="47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🏆</a:t>
            </a:r>
            <a:r>
              <a:rPr lang="en-US" sz="27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Best Salesperson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4903" y="3151880"/>
            <a:ext cx="4598041" cy="973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Top performers identified for recognition and benchmarking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08044" y="2300583"/>
            <a:ext cx="5204965" cy="2127799"/>
            <a:chOff x="0" y="0"/>
            <a:chExt cx="6939953" cy="28370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39915" cy="2837053"/>
            </a:xfrm>
            <a:custGeom>
              <a:avLst/>
              <a:gdLst/>
              <a:ahLst/>
              <a:cxnLst/>
              <a:rect l="l" t="t" r="r" b="b"/>
              <a:pathLst>
                <a:path w="6939915" h="2837053">
                  <a:moveTo>
                    <a:pt x="0" y="162687"/>
                  </a:moveTo>
                  <a:cubicBezTo>
                    <a:pt x="0" y="72898"/>
                    <a:pt x="72898" y="0"/>
                    <a:pt x="162687" y="0"/>
                  </a:cubicBezTo>
                  <a:lnTo>
                    <a:pt x="6777228" y="0"/>
                  </a:lnTo>
                  <a:cubicBezTo>
                    <a:pt x="6867144" y="0"/>
                    <a:pt x="6939915" y="72898"/>
                    <a:pt x="6939915" y="162687"/>
                  </a:cubicBezTo>
                  <a:lnTo>
                    <a:pt x="6939915" y="2674366"/>
                  </a:lnTo>
                  <a:cubicBezTo>
                    <a:pt x="6939915" y="2764282"/>
                    <a:pt x="6867017" y="2837053"/>
                    <a:pt x="6777228" y="2837053"/>
                  </a:cubicBezTo>
                  <a:lnTo>
                    <a:pt x="162687" y="2837053"/>
                  </a:lnTo>
                  <a:cubicBezTo>
                    <a:pt x="72898" y="2837053"/>
                    <a:pt x="0" y="2764155"/>
                    <a:pt x="0" y="2674366"/>
                  </a:cubicBezTo>
                  <a:close/>
                </a:path>
              </a:pathLst>
            </a:custGeom>
            <a:solidFill>
              <a:srgbClr val="003180"/>
            </a:solidFill>
            <a:ln w="9526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2311510" y="2594524"/>
            <a:ext cx="3615633" cy="47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🌐</a:t>
            </a:r>
            <a:r>
              <a:rPr lang="en-US" sz="27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Regional Gaps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1510" y="3151880"/>
            <a:ext cx="4598041" cy="973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North region dominates; others hold growth potential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74982" y="4690024"/>
            <a:ext cx="7938192" cy="2127799"/>
            <a:chOff x="0" y="0"/>
            <a:chExt cx="10584256" cy="28370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84180" cy="2837053"/>
            </a:xfrm>
            <a:custGeom>
              <a:avLst/>
              <a:gdLst/>
              <a:ahLst/>
              <a:cxnLst/>
              <a:rect l="l" t="t" r="r" b="b"/>
              <a:pathLst>
                <a:path w="10584180" h="2837053">
                  <a:moveTo>
                    <a:pt x="0" y="162687"/>
                  </a:moveTo>
                  <a:cubicBezTo>
                    <a:pt x="0" y="72898"/>
                    <a:pt x="72898" y="0"/>
                    <a:pt x="162687" y="0"/>
                  </a:cubicBezTo>
                  <a:lnTo>
                    <a:pt x="10421493" y="0"/>
                  </a:lnTo>
                  <a:cubicBezTo>
                    <a:pt x="10511410" y="0"/>
                    <a:pt x="10584180" y="72898"/>
                    <a:pt x="10584180" y="162687"/>
                  </a:cubicBezTo>
                  <a:lnTo>
                    <a:pt x="10584180" y="2674366"/>
                  </a:lnTo>
                  <a:cubicBezTo>
                    <a:pt x="10584180" y="2764282"/>
                    <a:pt x="10511282" y="2837053"/>
                    <a:pt x="10421493" y="2837053"/>
                  </a:cubicBezTo>
                  <a:lnTo>
                    <a:pt x="162687" y="2837053"/>
                  </a:lnTo>
                  <a:cubicBezTo>
                    <a:pt x="72898" y="2837053"/>
                    <a:pt x="0" y="2764155"/>
                    <a:pt x="0" y="2674366"/>
                  </a:cubicBezTo>
                  <a:close/>
                </a:path>
              </a:pathLst>
            </a:custGeom>
            <a:solidFill>
              <a:srgbClr val="003180"/>
            </a:solidFill>
            <a:ln w="9526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378448" y="4983956"/>
            <a:ext cx="3734543" cy="47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📦</a:t>
            </a:r>
            <a:r>
              <a:rPr lang="en-US" sz="27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Volume ≠ Revenue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8448" y="5541321"/>
            <a:ext cx="7331278" cy="52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Product value matters as much as shipment volume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74816" y="4690024"/>
            <a:ext cx="7938192" cy="2127799"/>
            <a:chOff x="0" y="0"/>
            <a:chExt cx="10584256" cy="283706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584180" cy="2837053"/>
            </a:xfrm>
            <a:custGeom>
              <a:avLst/>
              <a:gdLst/>
              <a:ahLst/>
              <a:cxnLst/>
              <a:rect l="l" t="t" r="r" b="b"/>
              <a:pathLst>
                <a:path w="10584180" h="2837053">
                  <a:moveTo>
                    <a:pt x="0" y="162687"/>
                  </a:moveTo>
                  <a:cubicBezTo>
                    <a:pt x="0" y="72898"/>
                    <a:pt x="72898" y="0"/>
                    <a:pt x="162687" y="0"/>
                  </a:cubicBezTo>
                  <a:lnTo>
                    <a:pt x="10421493" y="0"/>
                  </a:lnTo>
                  <a:cubicBezTo>
                    <a:pt x="10511410" y="0"/>
                    <a:pt x="10584180" y="72898"/>
                    <a:pt x="10584180" y="162687"/>
                  </a:cubicBezTo>
                  <a:lnTo>
                    <a:pt x="10584180" y="2674366"/>
                  </a:lnTo>
                  <a:cubicBezTo>
                    <a:pt x="10584180" y="2764282"/>
                    <a:pt x="10511282" y="2837053"/>
                    <a:pt x="10421493" y="2837053"/>
                  </a:cubicBezTo>
                  <a:lnTo>
                    <a:pt x="162687" y="2837053"/>
                  </a:lnTo>
                  <a:cubicBezTo>
                    <a:pt x="72898" y="2837053"/>
                    <a:pt x="0" y="2764155"/>
                    <a:pt x="0" y="2674366"/>
                  </a:cubicBezTo>
                  <a:close/>
                </a:path>
              </a:pathLst>
            </a:custGeom>
            <a:solidFill>
              <a:srgbClr val="003180"/>
            </a:solidFill>
            <a:ln w="9526" cap="sq">
              <a:solidFill>
                <a:srgbClr val="194A99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9578283" y="4983956"/>
            <a:ext cx="3615633" cy="47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📅</a:t>
            </a:r>
            <a:r>
              <a:rPr lang="en-US" sz="2799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Seasonal Peaks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78283" y="5541321"/>
            <a:ext cx="7331278" cy="973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Q4 shows strongest demand — plan inventory accordingly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79744" y="7118004"/>
            <a:ext cx="16128502" cy="1556299"/>
            <a:chOff x="0" y="0"/>
            <a:chExt cx="21504669" cy="207506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504656" cy="2075053"/>
            </a:xfrm>
            <a:custGeom>
              <a:avLst/>
              <a:gdLst/>
              <a:ahLst/>
              <a:cxnLst/>
              <a:rect l="l" t="t" r="r" b="b"/>
              <a:pathLst>
                <a:path w="21504656" h="2075053">
                  <a:moveTo>
                    <a:pt x="0" y="161925"/>
                  </a:moveTo>
                  <a:cubicBezTo>
                    <a:pt x="0" y="72517"/>
                    <a:pt x="72517" y="0"/>
                    <a:pt x="161925" y="0"/>
                  </a:cubicBezTo>
                  <a:lnTo>
                    <a:pt x="21342731" y="0"/>
                  </a:lnTo>
                  <a:cubicBezTo>
                    <a:pt x="21432140" y="0"/>
                    <a:pt x="21504656" y="72517"/>
                    <a:pt x="21504656" y="161925"/>
                  </a:cubicBezTo>
                  <a:lnTo>
                    <a:pt x="21504656" y="1913128"/>
                  </a:lnTo>
                  <a:cubicBezTo>
                    <a:pt x="21504656" y="2002536"/>
                    <a:pt x="21432140" y="2075053"/>
                    <a:pt x="21342731" y="2075053"/>
                  </a:cubicBezTo>
                  <a:lnTo>
                    <a:pt x="161925" y="2075053"/>
                  </a:lnTo>
                  <a:cubicBezTo>
                    <a:pt x="72517" y="2075053"/>
                    <a:pt x="0" y="2002536"/>
                    <a:pt x="0" y="1913128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368923" y="7530998"/>
            <a:ext cx="361502" cy="289169"/>
            <a:chOff x="0" y="0"/>
            <a:chExt cx="482003" cy="385559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481965" cy="385572"/>
            </a:xfrm>
            <a:custGeom>
              <a:avLst/>
              <a:gdLst/>
              <a:ahLst/>
              <a:cxnLst/>
              <a:rect l="l" t="t" r="r" b="b"/>
              <a:pathLst>
                <a:path w="481965" h="385572">
                  <a:moveTo>
                    <a:pt x="0" y="0"/>
                  </a:moveTo>
                  <a:lnTo>
                    <a:pt x="481965" y="0"/>
                  </a:lnTo>
                  <a:lnTo>
                    <a:pt x="481965" y="385572"/>
                  </a:lnTo>
                  <a:lnTo>
                    <a:pt x="0" y="385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91" r="-7" b="-991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2019595" y="7385152"/>
            <a:ext cx="14899481" cy="973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Conclusion:</a:t>
            </a:r>
            <a:r>
              <a:rPr lang="en-US" sz="22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Power BI dashboards delivered actionable insights into product, regional, and employee performance — enabling data-driven decisions to strengthen sales strategy.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79744" y="8903046"/>
            <a:ext cx="17042902" cy="52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 b="1">
                <a:solidFill>
                  <a:srgbClr val="E2E6E9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605</Words>
  <Application>Microsoft Office PowerPoint</Application>
  <PresentationFormat>Custom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Merriweather</vt:lpstr>
      <vt:lpstr>Merriweather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Chocolate-Sales-Performance-Analysis.pptx</dc:title>
  <cp:lastModifiedBy>sidhuriya012@gmail.com</cp:lastModifiedBy>
  <cp:revision>3</cp:revision>
  <dcterms:created xsi:type="dcterms:W3CDTF">2006-08-16T00:00:00Z</dcterms:created>
  <dcterms:modified xsi:type="dcterms:W3CDTF">2026-07-04T06:15:08Z</dcterms:modified>
  <dc:identifier>DAHOY-58liw</dc:identifier>
</cp:coreProperties>
</file>